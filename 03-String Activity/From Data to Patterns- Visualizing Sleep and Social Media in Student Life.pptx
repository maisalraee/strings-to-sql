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1"/>
  </p:notesMasterIdLst>
  <p:handoutMasterIdLst>
    <p:handoutMasterId r:id="rId12"/>
  </p:handoutMasterIdLst>
  <p:sldIdLst>
    <p:sldId id="321" r:id="rId5"/>
    <p:sldId id="322" r:id="rId6"/>
    <p:sldId id="323" r:id="rId7"/>
    <p:sldId id="324" r:id="rId8"/>
    <p:sldId id="325" r:id="rId9"/>
    <p:sldId id="326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7F6CA1"/>
    <a:srgbClr val="4C1959"/>
    <a:srgbClr val="313650"/>
    <a:srgbClr val="303650"/>
    <a:srgbClr val="B093C6"/>
    <a:srgbClr val="6DC4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286" autoAdjust="0"/>
  </p:normalViewPr>
  <p:slideViewPr>
    <p:cSldViewPr snapToGrid="0" showGuides="1">
      <p:cViewPr varScale="1">
        <p:scale>
          <a:sx n="60" d="100"/>
          <a:sy n="60" d="100"/>
        </p:scale>
        <p:origin x="898" y="43"/>
      </p:cViewPr>
      <p:guideLst>
        <p:guide orient="horz" pos="1728"/>
        <p:guide pos="3840"/>
      </p:guideLst>
    </p:cSldViewPr>
  </p:slideViewPr>
  <p:outlineViewPr>
    <p:cViewPr>
      <p:scale>
        <a:sx n="33" d="100"/>
        <a:sy n="33" d="100"/>
      </p:scale>
      <p:origin x="0" y="-16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50B603-F8EF-4339-A4FB-A12D8182BA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C8726F-3158-41C0-BB9F-B885853A80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51B3E-1325-48C3-8E2C-998D0099FC9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B6BB1-3FBD-4D36-9DC6-192A8F0137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B54D2-81AD-4487-9D5C-A3F7EB6448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C88DE-0065-430D-A4D0-A9AF40AB53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0066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39CC4-BC6F-4E80-BC0D-03833D02DC81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4652E4-5120-44D6-918A-894636DEFCBD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346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Dark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39F7D1-31ED-4588-7F6B-7214367FB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744" y="209677"/>
            <a:ext cx="9064752" cy="109791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3A1C6A-339B-343A-B0AD-F761FE9105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745" y="1344676"/>
            <a:ext cx="9064752" cy="511175"/>
          </a:xfrm>
        </p:spPr>
        <p:txBody>
          <a:bodyPr lIns="164592" tIns="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35829F9-B704-5645-ABE3-F98170E89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6346" y="585334"/>
            <a:ext cx="1005840" cy="1005840"/>
          </a:xfrm>
          <a:prstGeom prst="ellipse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807DD9B-8716-9B22-9F91-88E6071F91D3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0487786" y="649342"/>
            <a:ext cx="822960" cy="822960"/>
          </a:xfrm>
          <a:prstGeom prst="ellipse">
            <a:avLst/>
          </a:prstGeom>
          <a:ln w="22225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65C986-E3D2-97E7-9111-0299F9C3B1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608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404" y="3046075"/>
            <a:ext cx="1828633" cy="96903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3608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70FD3BFF-C0B9-AA50-A3D6-B4A48EEF75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056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BEE5563-8FF1-7479-E11E-F0144D753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82496" y="4399153"/>
            <a:ext cx="685800" cy="685800"/>
          </a:xfrm>
          <a:prstGeom prst="ellipse">
            <a:avLst/>
          </a:prstGeom>
          <a:noFill/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69C1816-EC8E-961C-AC21-6D86E9C455A1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1796796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F9A0E21-E67B-7E2F-ED16-4BABF07810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056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FE922A-6A5A-4DA8-1E44-D80852772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3404" y="5377870"/>
            <a:ext cx="1827083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3">
                    <a:lumMod val="75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D56C31D-5FDB-2235-FFF8-2AB6E04C9B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62072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1FC81D-B431-FFA6-47F5-F40C79C53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46272" y="3046075"/>
            <a:ext cx="1828633" cy="9690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16A2860-4464-B092-801E-255A6B7DF3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62072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B992882-DF57-9DAF-2532-06C30C2D9F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62072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E63250C-AB2E-9D56-C26C-1E211DFA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7724" y="4399153"/>
            <a:ext cx="685800" cy="685800"/>
          </a:xfrm>
          <a:prstGeom prst="ellipse">
            <a:avLst/>
          </a:prstGeom>
          <a:noFill/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Picture Placeholder 13">
            <a:extLst>
              <a:ext uri="{FF2B5EF4-FFF2-40B4-BE49-F238E27FC236}">
                <a16:creationId xmlns:a16="http://schemas.microsoft.com/office/drawing/2014/main" id="{50C6734A-2661-863D-C8B6-6A4DBC588FE4}"/>
              </a:ext>
            </a:extLst>
          </p:cNvPr>
          <p:cNvSpPr>
            <a:spLocks noGrp="1" noChangeAspect="1"/>
          </p:cNvSpPr>
          <p:nvPr>
            <p:ph type="pic" sz="quarter" idx="36"/>
          </p:nvPr>
        </p:nvSpPr>
        <p:spPr>
          <a:xfrm>
            <a:off x="4002024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50D7755C-4D0B-D8A7-6235-8E606B39F3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62072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6330766-86D4-F436-F65D-07EF389BF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43485" y="5377870"/>
            <a:ext cx="1836387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2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540E06E-3F2B-A3DC-320A-8C968AC435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0536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46BB721-1D88-1A03-1D55-5C79942C7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39140" y="3046075"/>
            <a:ext cx="1828634" cy="96903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307C43-6072-93E9-BF1D-64D42AE2A5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50536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7CBDAD5E-0048-0813-47FC-FFE93F191C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5776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0D4CBD1-AAC9-3F04-3F49-E8579F6F7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2952" y="4402872"/>
            <a:ext cx="685800" cy="685800"/>
          </a:xfrm>
          <a:prstGeom prst="ellipse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Picture Placeholder 13">
            <a:extLst>
              <a:ext uri="{FF2B5EF4-FFF2-40B4-BE49-F238E27FC236}">
                <a16:creationId xmlns:a16="http://schemas.microsoft.com/office/drawing/2014/main" id="{F154717D-74D1-298B-EF00-6CCA65AA969B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207252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A23A057-C011-EB28-4869-A73F2E3B33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5776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51B736-1CC5-842A-AFEB-68B18931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42870" y="5377870"/>
            <a:ext cx="1827639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2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716EA8F4-B9C4-991F-0EBC-D79877AD46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39000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68F5A8-E314-7C7A-6CB2-3036DF2A8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32009" y="3046075"/>
            <a:ext cx="1828635" cy="96903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5A57C80F-4C30-26E1-B38B-3D7238EC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39000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A44BB5F0-6856-4711-058C-73C1CBF464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57288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5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EF56C89-6D7E-4196-72BF-23ACEE823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98180" y="4402872"/>
            <a:ext cx="685800" cy="685800"/>
          </a:xfrm>
          <a:prstGeom prst="ellipse">
            <a:avLst/>
          </a:prstGeom>
          <a:noFill/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Picture Placeholder 13">
            <a:extLst>
              <a:ext uri="{FF2B5EF4-FFF2-40B4-BE49-F238E27FC236}">
                <a16:creationId xmlns:a16="http://schemas.microsoft.com/office/drawing/2014/main" id="{719C23E4-DE06-6FF4-1BC9-5305DE50D817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8412480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F5A3DA8B-D38B-3994-FE85-0A331FBADA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57288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71B152-C165-EE9A-CF25-69B01D93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33507" y="5377870"/>
            <a:ext cx="1828375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6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3896BC4-3EFC-36C4-6071-4BF0E987F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7464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236E29-4894-FD6C-E56F-5B1CBA99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24879" y="3046075"/>
            <a:ext cx="1828635" cy="96903"/>
          </a:xfrm>
          <a:prstGeom prst="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C2DA584-D9BC-7A01-6F48-363C7F6465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27464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70C95BBB-511F-F8F5-EF37-C6109C4AF4E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4880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0EDAC9C-0C6E-2807-24D5-3E04B5E21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84738" y="4399153"/>
            <a:ext cx="685800" cy="685800"/>
          </a:xfrm>
          <a:prstGeom prst="ellipse">
            <a:avLst/>
          </a:prstGeo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Picture Placeholder 13">
            <a:extLst>
              <a:ext uri="{FF2B5EF4-FFF2-40B4-BE49-F238E27FC236}">
                <a16:creationId xmlns:a16="http://schemas.microsoft.com/office/drawing/2014/main" id="{B1C0F0FD-844D-CC54-986F-B8522F12B0A5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10599038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A00816D8-6779-7BDB-52AB-5BD0A2479E4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4880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6506AFF-E40E-308E-7907-FBFC4DAAB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24879" y="5376344"/>
            <a:ext cx="1828635" cy="3053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A11DE-725C-8DE4-9A24-3718A3D1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D8153-A9C6-7A32-CDB7-BF9D7CB1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378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Ligh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39F7D1-31ED-4588-7F6B-7214367FB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744" y="209677"/>
            <a:ext cx="9064752" cy="1097915"/>
          </a:xfrm>
          <a:noFill/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3A1C6A-339B-343A-B0AD-F761FE9105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745" y="1344676"/>
            <a:ext cx="9064752" cy="511175"/>
          </a:xfrm>
        </p:spPr>
        <p:txBody>
          <a:bodyPr lIns="164592" t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35829F9-B704-5645-ABE3-F98170E89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6346" y="585334"/>
            <a:ext cx="1005840" cy="1005840"/>
          </a:xfrm>
          <a:prstGeom prst="ellipse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807DD9B-8716-9B22-9F91-88E6071F91D3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0487786" y="649342"/>
            <a:ext cx="822960" cy="822960"/>
          </a:xfrm>
          <a:prstGeom prst="ellipse">
            <a:avLst/>
          </a:prstGeom>
          <a:ln w="22225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65C986-E3D2-97E7-9111-0299F9C3B1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608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404" y="3046075"/>
            <a:ext cx="1828633" cy="96903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3608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70FD3BFF-C0B9-AA50-A3D6-B4A48EEF75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056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BEE5563-8FF1-7479-E11E-F0144D753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82496" y="4399153"/>
            <a:ext cx="685800" cy="685800"/>
          </a:xfrm>
          <a:prstGeom prst="ellipse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69C1816-EC8E-961C-AC21-6D86E9C455A1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1796796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F9A0E21-E67B-7E2F-ED16-4BABF07810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056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FE922A-6A5A-4DA8-1E44-D80852772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3404" y="5377870"/>
            <a:ext cx="1827083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3">
                    <a:lumMod val="75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D56C31D-5FDB-2235-FFF8-2AB6E04C9B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62072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1FC81D-B431-FFA6-47F5-F40C79C53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46272" y="3046075"/>
            <a:ext cx="1828633" cy="9690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16A2860-4464-B092-801E-255A6B7DF3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62072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B992882-DF57-9DAF-2532-06C30C2D9F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62072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E63250C-AB2E-9D56-C26C-1E211DFA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7724" y="4399153"/>
            <a:ext cx="685800" cy="685800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Picture Placeholder 13">
            <a:extLst>
              <a:ext uri="{FF2B5EF4-FFF2-40B4-BE49-F238E27FC236}">
                <a16:creationId xmlns:a16="http://schemas.microsoft.com/office/drawing/2014/main" id="{50C6734A-2661-863D-C8B6-6A4DBC588FE4}"/>
              </a:ext>
            </a:extLst>
          </p:cNvPr>
          <p:cNvSpPr>
            <a:spLocks noGrp="1" noChangeAspect="1"/>
          </p:cNvSpPr>
          <p:nvPr>
            <p:ph type="pic" sz="quarter" idx="36"/>
          </p:nvPr>
        </p:nvSpPr>
        <p:spPr>
          <a:xfrm>
            <a:off x="4002024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50D7755C-4D0B-D8A7-6235-8E606B39F3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62072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6330766-86D4-F436-F65D-07EF389BF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43485" y="5377870"/>
            <a:ext cx="1836387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2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540E06E-3F2B-A3DC-320A-8C968AC435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0536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46BB721-1D88-1A03-1D55-5C79942C7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39140" y="3046075"/>
            <a:ext cx="1828634" cy="96903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307C43-6072-93E9-BF1D-64D42AE2A5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50536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7CBDAD5E-0048-0813-47FC-FFE93F191C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5776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0D4CBD1-AAC9-3F04-3F49-E8579F6F7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2952" y="4402872"/>
            <a:ext cx="685800" cy="6858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Picture Placeholder 13">
            <a:extLst>
              <a:ext uri="{FF2B5EF4-FFF2-40B4-BE49-F238E27FC236}">
                <a16:creationId xmlns:a16="http://schemas.microsoft.com/office/drawing/2014/main" id="{F154717D-74D1-298B-EF00-6CCA65AA969B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207252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A23A057-C011-EB28-4869-A73F2E3B33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5776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51B736-1CC5-842A-AFEB-68B18931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42870" y="5377870"/>
            <a:ext cx="1827639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2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716EA8F4-B9C4-991F-0EBC-D79877AD46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39000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68F5A8-E314-7C7A-6CB2-3036DF2A8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32009" y="3046075"/>
            <a:ext cx="1828635" cy="96903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5A57C80F-4C30-26E1-B38B-3D7238EC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39000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A44BB5F0-6856-4711-058C-73C1CBF464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57288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EF56C89-6D7E-4196-72BF-23ACEE823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98180" y="4402872"/>
            <a:ext cx="685800" cy="68580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Picture Placeholder 13">
            <a:extLst>
              <a:ext uri="{FF2B5EF4-FFF2-40B4-BE49-F238E27FC236}">
                <a16:creationId xmlns:a16="http://schemas.microsoft.com/office/drawing/2014/main" id="{719C23E4-DE06-6FF4-1BC9-5305DE50D817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8412480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F5A3DA8B-D38B-3994-FE85-0A331FBADA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57288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71B152-C165-EE9A-CF25-69B01D93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33507" y="5377870"/>
            <a:ext cx="1828375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6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3896BC4-3EFC-36C4-6071-4BF0E987F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7464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236E29-4894-FD6C-E56F-5B1CBA99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24879" y="3046075"/>
            <a:ext cx="1828635" cy="96903"/>
          </a:xfrm>
          <a:prstGeom prst="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C2DA584-D9BC-7A01-6F48-363C7F6465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27464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70C95BBB-511F-F8F5-EF37-C6109C4AF4E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4880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0EDAC9C-0C6E-2807-24D5-3E04B5E21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84738" y="4399153"/>
            <a:ext cx="685800" cy="685800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Picture Placeholder 13">
            <a:extLst>
              <a:ext uri="{FF2B5EF4-FFF2-40B4-BE49-F238E27FC236}">
                <a16:creationId xmlns:a16="http://schemas.microsoft.com/office/drawing/2014/main" id="{B1C0F0FD-844D-CC54-986F-B8522F12B0A5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10599038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A00816D8-6779-7BDB-52AB-5BD0A2479E4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4880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6506AFF-E40E-308E-7907-FBFC4DAAB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24879" y="5376344"/>
            <a:ext cx="1828635" cy="3053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A11DE-725C-8DE4-9A24-3718A3D1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D8153-A9C6-7A32-CDB7-BF9D7CB1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243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F5838-AC2D-E84F-A71A-9E0FE85A4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D04AE-25D4-4D7B-EE56-4BF3DE020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DCC8A-4464-B4E3-B1DC-9C9BA97A9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2679-7D2A-4D7C-8AAE-4FA9B9DFE4C9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D3B6B-4426-A8DF-C760-348B50F13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12D88-52E3-66A1-BF5C-257B2C782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633E7-2BE8-4BBA-B7BD-FEE3B93E8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30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74781-3886-D1FF-C846-4925F79B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2CDBC-41A9-9E4C-AC91-F4DBA0D42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160B2-7DE4-7E39-4340-EE5B6CC8D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2679-7D2A-4D7C-8AAE-4FA9B9DFE4C9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7A1FA-0C2C-622D-17C6-E432EE395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64B5A-83DA-5432-7E20-3378F3F2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633E7-2BE8-4BBA-B7BD-FEE3B93E8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48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5B3CF9-F6C1-EAC2-6ED5-F21274ED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804" y="365125"/>
            <a:ext cx="108870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84AFB-9D3B-E902-0E64-B953D0E5C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804" y="1825625"/>
            <a:ext cx="10887012" cy="4113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4D8918F-6808-DDE5-4A7C-495DAC248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2BAE7F7-F858-A80B-8F72-EFA0C33C1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7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rticles - Data Science and Big Data - DataScienceCentral.com">
            <a:extLst>
              <a:ext uri="{FF2B5EF4-FFF2-40B4-BE49-F238E27FC236}">
                <a16:creationId xmlns:a16="http://schemas.microsoft.com/office/drawing/2014/main" id="{2BFCC85D-DFA1-2714-FA73-A3D9999FC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4" b="6636"/>
          <a:stretch/>
        </p:blipFill>
        <p:spPr bwMode="auto">
          <a:xfrm>
            <a:off x="20" y="-22"/>
            <a:ext cx="12191977" cy="6858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9AB03F6-9CA8-6F51-5A4D-EC2EEF8F8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366" y="5071737"/>
            <a:ext cx="6760634" cy="1578054"/>
          </a:xfrm>
        </p:spPr>
        <p:txBody>
          <a:bodyPr anchor="b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Data Science- From Data to Patterns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Professor Mais Alraee</a:t>
            </a:r>
          </a:p>
        </p:txBody>
      </p:sp>
    </p:spTree>
    <p:extLst>
      <p:ext uri="{BB962C8B-B14F-4D97-AF65-F5344CB8AC3E}">
        <p14:creationId xmlns:p14="http://schemas.microsoft.com/office/powerpoint/2010/main" val="3118240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12EA-7D6A-D78E-0628-44DE87825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778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Data- What is it and Why it matters?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DB526-CB7A-26B8-4001-AF4F7B842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700" y="1889125"/>
            <a:ext cx="10515600" cy="143827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information or facts about something. It can be numbers, words, pictures, voices, even emotions!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49B188-7A2B-18F2-E145-4FCCBB7D31EE}"/>
              </a:ext>
            </a:extLst>
          </p:cNvPr>
          <p:cNvSpPr txBox="1"/>
          <p:nvPr/>
        </p:nvSpPr>
        <p:spPr>
          <a:xfrm>
            <a:off x="539750" y="3287236"/>
            <a:ext cx="1113155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Think of data as information that helps us discover patterns and answer questions.</a:t>
            </a:r>
          </a:p>
          <a:p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: If we collect information about how students get to school (bus, car, walking, biking), we can see which way is the most common.</a:t>
            </a:r>
          </a:p>
          <a:p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Data helps us turn information into insights about the world around us.</a:t>
            </a:r>
          </a:p>
        </p:txBody>
      </p:sp>
    </p:spTree>
    <p:extLst>
      <p:ext uri="{BB962C8B-B14F-4D97-AF65-F5344CB8AC3E}">
        <p14:creationId xmlns:p14="http://schemas.microsoft.com/office/powerpoint/2010/main" val="3417392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029D9-86BB-512C-C24C-D483FF518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573" y="2474758"/>
            <a:ext cx="4423196" cy="3410712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1- Collect information (called "data") about different things.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2- Use models and visualization to find patterns or hidden insights in the data.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3- Use the information that they got to make better decisions!</a:t>
            </a:r>
          </a:p>
        </p:txBody>
      </p:sp>
      <p:pic>
        <p:nvPicPr>
          <p:cNvPr id="2050" name="Picture 2" descr="Pattern Recognition in Machine Learning [Basics &amp; Examples]">
            <a:extLst>
              <a:ext uri="{FF2B5EF4-FFF2-40B4-BE49-F238E27FC236}">
                <a16:creationId xmlns:a16="http://schemas.microsoft.com/office/drawing/2014/main" id="{2C9F1F71-2CA7-FF17-80F5-F35210413D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4" b="14210"/>
          <a:stretch/>
        </p:blipFill>
        <p:spPr bwMode="auto">
          <a:xfrm>
            <a:off x="5243227" y="2128826"/>
            <a:ext cx="6530200" cy="410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F72CAF-2AD9-E635-5FB4-490D84FA7850}"/>
              </a:ext>
            </a:extLst>
          </p:cNvPr>
          <p:cNvSpPr txBox="1"/>
          <p:nvPr/>
        </p:nvSpPr>
        <p:spPr>
          <a:xfrm>
            <a:off x="418573" y="1714787"/>
            <a:ext cx="447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Data Scientists </a:t>
            </a:r>
          </a:p>
        </p:txBody>
      </p:sp>
    </p:spTree>
    <p:extLst>
      <p:ext uri="{BB962C8B-B14F-4D97-AF65-F5344CB8AC3E}">
        <p14:creationId xmlns:p14="http://schemas.microsoft.com/office/powerpoint/2010/main" val="2655121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7F698-98BA-91CD-F0B5-E04AA5C89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104" y="482601"/>
            <a:ext cx="10719816" cy="1017587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Be a Data Scientist for the next 30 min!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7839F-E0BA-1E01-724B-6C36FD348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804" y="1825623"/>
            <a:ext cx="11000296" cy="46640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B0F0"/>
                </a:solidFill>
              </a:rPr>
              <a:t>Step 1: Collect information</a:t>
            </a:r>
          </a:p>
          <a:p>
            <a:pPr marL="0" indent="0">
              <a:buNone/>
            </a:pPr>
            <a:endParaRPr lang="en-US" sz="24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In your group of 4, collect the following information:</a:t>
            </a:r>
          </a:p>
          <a:p>
            <a:pPr marL="0" indent="0">
              <a:buNone/>
            </a:pPr>
            <a:endParaRPr lang="en-US" sz="1400" dirty="0"/>
          </a:p>
          <a:p>
            <a:r>
              <a:rPr lang="en-US" sz="2400" dirty="0"/>
              <a:t>How many hours per week does each person exercise?</a:t>
            </a:r>
          </a:p>
          <a:p>
            <a:r>
              <a:rPr lang="en-US" sz="2400" dirty="0"/>
              <a:t>How many hours per week does each person spend on social media?</a:t>
            </a:r>
          </a:p>
          <a:p>
            <a:r>
              <a:rPr lang="en-US" sz="2400" dirty="0"/>
              <a:t>How many hours of sleep does each person usually get per night?</a:t>
            </a:r>
          </a:p>
          <a:p>
            <a:r>
              <a:rPr lang="en-US" sz="2400" dirty="0"/>
              <a:t>What is each person’s favorite subject? (record this on the side of the table)</a:t>
            </a:r>
          </a:p>
          <a:p>
            <a:pPr marL="0" indent="0" algn="ctr"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Math, English, Social Studies, Science, or Art</a:t>
            </a:r>
          </a:p>
          <a:p>
            <a:pPr marL="0" indent="0" algn="ctr"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7F6CA1"/>
                </a:solidFill>
              </a:rPr>
              <a:t>Record the information in your table.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7F6CA1"/>
                </a:solidFill>
              </a:rPr>
              <a:t>Do NOT write anyone’s name.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7F6CA1"/>
                </a:solidFill>
              </a:rPr>
              <a:t>Don’t forget to collect your info!!</a:t>
            </a:r>
          </a:p>
        </p:txBody>
      </p:sp>
    </p:spTree>
    <p:extLst>
      <p:ext uri="{BB962C8B-B14F-4D97-AF65-F5344CB8AC3E}">
        <p14:creationId xmlns:p14="http://schemas.microsoft.com/office/powerpoint/2010/main" val="1317548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9694573-DE2F-EE96-62B1-8E20E9340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804" y="365125"/>
            <a:ext cx="10887012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/>
              <a:t>Be a Data Scientist for the next 30 min!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B90D5-8E0C-BDD1-95DA-BCF647346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804" y="1825625"/>
            <a:ext cx="7583996" cy="41135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B0F0"/>
                </a:solidFill>
              </a:rPr>
              <a:t>Step 2: Visualize Your Data</a:t>
            </a:r>
          </a:p>
          <a:p>
            <a:pPr marL="0" indent="0">
              <a:buNone/>
            </a:pPr>
            <a:r>
              <a:rPr lang="en-US" sz="2400" dirty="0"/>
              <a:t>Your group will visualize your data using the strings and the board.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400" dirty="0"/>
              <a:t>Each string color represents a favorite subject:</a:t>
            </a:r>
          </a:p>
          <a:p>
            <a:pPr lvl="1"/>
            <a:r>
              <a:rPr lang="en-US" dirty="0">
                <a:solidFill>
                  <a:srgbClr val="CC99FF"/>
                </a:solidFill>
              </a:rPr>
              <a:t>Lavender</a:t>
            </a:r>
            <a:r>
              <a:rPr lang="en-US" dirty="0"/>
              <a:t> = Math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Teal</a:t>
            </a:r>
            <a:r>
              <a:rPr lang="en-US" dirty="0"/>
              <a:t> = English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Yellow</a:t>
            </a:r>
            <a:r>
              <a:rPr lang="en-US" dirty="0"/>
              <a:t> = Science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Blue</a:t>
            </a:r>
            <a:r>
              <a:rPr lang="en-US" dirty="0"/>
              <a:t> = Social Studies</a:t>
            </a:r>
          </a:p>
          <a:p>
            <a:pPr lvl="1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Maroon</a:t>
            </a:r>
            <a:r>
              <a:rPr lang="en-US" dirty="0"/>
              <a:t> = Art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Use the correct color string for each person in your group.</a:t>
            </a:r>
          </a:p>
        </p:txBody>
      </p:sp>
      <p:pic>
        <p:nvPicPr>
          <p:cNvPr id="2050" name="Picture 2" descr="Data Strings | Domestic Data Streamers">
            <a:extLst>
              <a:ext uri="{FF2B5EF4-FFF2-40B4-BE49-F238E27FC236}">
                <a16:creationId xmlns:a16="http://schemas.microsoft.com/office/drawing/2014/main" id="{0610B871-8557-8FDB-1102-D69CB81BE9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32" t="10205" r="16688" b="7622"/>
          <a:stretch>
            <a:fillRect/>
          </a:stretch>
        </p:blipFill>
        <p:spPr bwMode="auto">
          <a:xfrm>
            <a:off x="8522781" y="2263143"/>
            <a:ext cx="3074415" cy="323850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E50507-B355-1305-E83F-FAF12A76880D}"/>
              </a:ext>
            </a:extLst>
          </p:cNvPr>
          <p:cNvSpPr txBox="1"/>
          <p:nvPr/>
        </p:nvSpPr>
        <p:spPr>
          <a:xfrm>
            <a:off x="8021638" y="5916304"/>
            <a:ext cx="4170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https://www.domesticstreamers.com/work/data-strings/</a:t>
            </a:r>
          </a:p>
        </p:txBody>
      </p:sp>
    </p:spTree>
    <p:extLst>
      <p:ext uri="{BB962C8B-B14F-4D97-AF65-F5344CB8AC3E}">
        <p14:creationId xmlns:p14="http://schemas.microsoft.com/office/powerpoint/2010/main" val="298294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6C0CD-0085-E59E-23A1-282366F14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804" y="1825624"/>
            <a:ext cx="11012996" cy="42703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Step 3: Interpret the Visualization</a:t>
            </a:r>
          </a:p>
          <a:p>
            <a:pPr marL="0" indent="0">
              <a:buNone/>
            </a:pPr>
            <a:r>
              <a:rPr lang="en-US" dirty="0"/>
              <a:t>Look at the strings on the board and discuss with your group. Can you answer these questions: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Which exercise category has the most students?</a:t>
            </a:r>
          </a:p>
          <a:p>
            <a:r>
              <a:rPr lang="en-US" dirty="0"/>
              <a:t>Which social media category has the most students? How about sleep?</a:t>
            </a:r>
          </a:p>
          <a:p>
            <a:r>
              <a:rPr lang="en-US" dirty="0"/>
              <a:t>Do students who sleep more also exercise more?</a:t>
            </a:r>
          </a:p>
          <a:p>
            <a:r>
              <a:rPr lang="en-US" dirty="0"/>
              <a:t>Do students who spend more time on social media sleep less?</a:t>
            </a:r>
          </a:p>
          <a:p>
            <a:r>
              <a:rPr lang="en-US" dirty="0"/>
              <a:t>Which favorite subject appears the most?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What are some other questions we could ask looking at this visualization?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DEAD323-E51D-F429-D360-8CF31029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313" y="365125"/>
            <a:ext cx="10887075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/>
              <a:t>Be a Data Scientist for the next 30 min!</a:t>
            </a:r>
          </a:p>
        </p:txBody>
      </p:sp>
    </p:spTree>
    <p:extLst>
      <p:ext uri="{BB962C8B-B14F-4D97-AF65-F5344CB8AC3E}">
        <p14:creationId xmlns:p14="http://schemas.microsoft.com/office/powerpoint/2010/main" val="33878583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16411243">
      <a:dk1>
        <a:srgbClr val="000000"/>
      </a:dk1>
      <a:lt1>
        <a:srgbClr val="FFFFFF"/>
      </a:lt1>
      <a:dk2>
        <a:srgbClr val="2B2E42"/>
      </a:dk2>
      <a:lt2>
        <a:srgbClr val="E7E6E6"/>
      </a:lt2>
      <a:accent1>
        <a:srgbClr val="F4CE2F"/>
      </a:accent1>
      <a:accent2>
        <a:srgbClr val="D23958"/>
      </a:accent2>
      <a:accent3>
        <a:srgbClr val="F58020"/>
      </a:accent3>
      <a:accent4>
        <a:srgbClr val="009AD5"/>
      </a:accent4>
      <a:accent5>
        <a:srgbClr val="0479CE"/>
      </a:accent5>
      <a:accent6>
        <a:srgbClr val="25C29C"/>
      </a:accent6>
      <a:hlink>
        <a:srgbClr val="0563C1"/>
      </a:hlink>
      <a:folHlink>
        <a:srgbClr val="954F72"/>
      </a:folHlink>
    </a:clrScheme>
    <a:fontScheme name="Custom 70">
      <a:majorFont>
        <a:latin typeface="Avenir Next LT Pro Demi"/>
        <a:ea typeface=""/>
        <a:cs typeface=""/>
      </a:majorFont>
      <a:minorFont>
        <a:latin typeface="Avenir Next LT Pro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3_Win32_SL_v4" id="{5E1028BC-039D-4A85-8182-5BC71B8BBFDB}" vid="{8FC0B532-47E6-48BF-A500-9A0D2EC4382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FF118E-0388-4333-9D85-CA81E2C8D16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0A68F62-F174-4677-B07F-B071C4E6C2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6CDCFB-1550-438B-8C76-AE76FBCD315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{16B996CE-440C-427A-80A4-4B2D4414471D}TFddc1ce9b-eb75-4d85-a28a-1edab7faa0b756df1501_win32-bf83c0c841c0</Template>
  <TotalTime>116</TotalTime>
  <Words>425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Avenir Next LT Pro </vt:lpstr>
      <vt:lpstr>Avenir Next LT Pro Demi</vt:lpstr>
      <vt:lpstr>Calibri</vt:lpstr>
      <vt:lpstr>Custom</vt:lpstr>
      <vt:lpstr>PowerPoint Presentation</vt:lpstr>
      <vt:lpstr>Data- What is it and Why it matters?</vt:lpstr>
      <vt:lpstr>PowerPoint Presentation</vt:lpstr>
      <vt:lpstr>Be a Data Scientist for the next 30 min!</vt:lpstr>
      <vt:lpstr>Be a Data Scientist for the next 30 min!</vt:lpstr>
      <vt:lpstr>Be a Data Scientist for the next 30 min!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Alraee, Mais M</dc:creator>
  <cp:lastModifiedBy>Alraee, Mais M</cp:lastModifiedBy>
  <cp:revision>5</cp:revision>
  <dcterms:created xsi:type="dcterms:W3CDTF">2026-03-15T15:54:36Z</dcterms:created>
  <dcterms:modified xsi:type="dcterms:W3CDTF">2026-09-09T17:13:57Z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